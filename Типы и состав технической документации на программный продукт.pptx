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>
        <p:scale>
          <a:sx n="75" d="100"/>
          <a:sy n="75" d="100"/>
        </p:scale>
        <p:origin x="684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68684-1F77-94DE-6F43-05F7015265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/>
              <a:t>Типы и состав технической документации на программный продукт согласно ЕСПД. Эксплуатационная документация</a:t>
            </a: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8C2611-2347-CBAA-9FCF-9F41FDC4C6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Иван </a:t>
            </a:r>
            <a:r>
              <a:rPr lang="ru-RU" dirty="0" err="1"/>
              <a:t>потапов</a:t>
            </a:r>
            <a:r>
              <a:rPr lang="ru-RU" dirty="0"/>
              <a:t> 28ипо8481</a:t>
            </a:r>
          </a:p>
        </p:txBody>
      </p:sp>
    </p:spTree>
    <p:extLst>
      <p:ext uri="{BB962C8B-B14F-4D97-AF65-F5344CB8AC3E}">
        <p14:creationId xmlns:p14="http://schemas.microsoft.com/office/powerpoint/2010/main" val="197113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EB303-E140-53F4-8607-826D2B82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ЕСПД и ГОСТ 19.101 – основа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53C0E0-E699-6CBE-3536-50D4C8EB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ЕСПД</a:t>
            </a:r>
            <a:r>
              <a:rPr lang="ru-RU" dirty="0"/>
              <a:t> – Единая система программной документации (серия ГОСТ 19). Устанавливает единые правила разработки, оформления и обращения программных документов.</a:t>
            </a:r>
          </a:p>
          <a:p>
            <a:r>
              <a:rPr lang="ru-RU" b="1" dirty="0"/>
              <a:t>Ключевой стандарт: ГОСТ 19.101</a:t>
            </a:r>
            <a:r>
              <a:rPr lang="ru-RU" dirty="0"/>
              <a:t> (виды программ и документов).</a:t>
            </a:r>
            <a:br>
              <a:rPr lang="ru-RU" dirty="0"/>
            </a:br>
            <a:r>
              <a:rPr lang="ru-RU" dirty="0"/>
              <a:t>Актуальное изменение: ГОСТ 19.101-2024 (вступает в силу 30.01.2025).</a:t>
            </a:r>
          </a:p>
          <a:p>
            <a:r>
              <a:rPr lang="ru-RU" dirty="0"/>
              <a:t>Стандарт определяет:</a:t>
            </a:r>
          </a:p>
          <a:p>
            <a:r>
              <a:rPr lang="ru-RU" b="1" dirty="0"/>
              <a:t>Виды программ:</a:t>
            </a:r>
            <a:r>
              <a:rPr lang="ru-RU" dirty="0"/>
              <a:t> «Компонент» (выполняет законченную функцию) и «Комплекс» (набор взаимосвязанных компонентов).</a:t>
            </a:r>
          </a:p>
          <a:p>
            <a:r>
              <a:rPr lang="ru-RU" b="1" dirty="0"/>
              <a:t>Две большие группы документов:</a:t>
            </a:r>
            <a:r>
              <a:rPr lang="ru-RU" dirty="0"/>
              <a:t> Программные документы (для разработки) и Эксплуатационные документы (для использования).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3479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2B533-D1F5-C5E2-7F14-AE574175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Программные документы (для разработки) – краткий обзор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2B4260-A4AB-12A5-7A41-246CBDF25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i="1" dirty="0"/>
              <a:t>(Этот слайд можно оставить, чтобы показать контраст, или сразу перейти к эксплуатационным. Для полноты включаем.)</a:t>
            </a:r>
            <a:endParaRPr lang="ru-RU" dirty="0"/>
          </a:p>
          <a:p>
            <a:r>
              <a:rPr lang="ru-RU" dirty="0"/>
              <a:t>Основные программные документы:</a:t>
            </a:r>
          </a:p>
          <a:p>
            <a:r>
              <a:rPr lang="ru-RU" b="1" dirty="0"/>
              <a:t>Спецификация</a:t>
            </a:r>
            <a:r>
              <a:rPr lang="ru-RU" dirty="0"/>
              <a:t> – состав программы и документации.</a:t>
            </a:r>
          </a:p>
          <a:p>
            <a:r>
              <a:rPr lang="ru-RU" b="1" dirty="0"/>
              <a:t>Текст программы</a:t>
            </a:r>
            <a:r>
              <a:rPr lang="ru-RU" dirty="0"/>
              <a:t> – код с комментариями.</a:t>
            </a:r>
          </a:p>
          <a:p>
            <a:r>
              <a:rPr lang="ru-RU" b="1" dirty="0"/>
              <a:t>Описание программы</a:t>
            </a:r>
            <a:r>
              <a:rPr lang="ru-RU" dirty="0"/>
              <a:t> – логическая структура, алгоритмы.</a:t>
            </a:r>
          </a:p>
          <a:p>
            <a:r>
              <a:rPr lang="ru-RU" b="1" dirty="0"/>
              <a:t>Техническое задание</a:t>
            </a:r>
            <a:r>
              <a:rPr lang="ru-RU" dirty="0"/>
              <a:t> – цели, требования, стадии разработки.</a:t>
            </a:r>
          </a:p>
          <a:p>
            <a:r>
              <a:rPr lang="ru-RU" b="1" dirty="0"/>
              <a:t>Пояснительная записка</a:t>
            </a:r>
            <a:r>
              <a:rPr lang="ru-RU" dirty="0"/>
              <a:t> – обоснование решений, схема алгоритма.</a:t>
            </a:r>
          </a:p>
          <a:p>
            <a:r>
              <a:rPr lang="ru-RU" b="1" dirty="0"/>
              <a:t>Программа и методика испытаний</a:t>
            </a:r>
            <a:r>
              <a:rPr lang="ru-RU" dirty="0"/>
              <a:t> – проверка качества и функциональности.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670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C04F9-9947-2FA7-2E2B-EEA3B19A7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Эксплуатационная документация: назначение и полный состав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082B20E-F7F2-BA2C-5951-17261BB3B4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7466334"/>
              </p:ext>
            </p:extLst>
          </p:nvPr>
        </p:nvGraphicFramePr>
        <p:xfrm>
          <a:off x="1451579" y="2949045"/>
          <a:ext cx="9603274" cy="2997609"/>
        </p:xfrm>
        <a:graphic>
          <a:graphicData uri="http://schemas.openxmlformats.org/drawingml/2006/table">
            <a:tbl>
              <a:tblPr/>
              <a:tblGrid>
                <a:gridCol w="4801637">
                  <a:extLst>
                    <a:ext uri="{9D8B030D-6E8A-4147-A177-3AD203B41FA5}">
                      <a16:colId xmlns:a16="http://schemas.microsoft.com/office/drawing/2014/main" val="2494416169"/>
                    </a:ext>
                  </a:extLst>
                </a:gridCol>
                <a:gridCol w="4801637">
                  <a:extLst>
                    <a:ext uri="{9D8B030D-6E8A-4147-A177-3AD203B41FA5}">
                      <a16:colId xmlns:a16="http://schemas.microsoft.com/office/drawing/2014/main" val="1409142146"/>
                    </a:ext>
                  </a:extLst>
                </a:gridCol>
              </a:tblGrid>
              <a:tr h="229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Вид документа</a:t>
                      </a:r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Содержание</a:t>
                      </a:r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149240"/>
                  </a:ext>
                </a:extLst>
              </a:tr>
              <a:tr h="358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Ведомость эксплуатационных документов</a:t>
                      </a:r>
                      <a:endParaRPr lang="ru-RU" sz="1200"/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Полный перечень всех эксплуатационных документов</a:t>
                      </a:r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405624"/>
                  </a:ext>
                </a:extLst>
              </a:tr>
              <a:tr h="358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Формуляр</a:t>
                      </a:r>
                      <a:endParaRPr lang="ru-RU" sz="1200"/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Паспорт изделия: характеристики, комплектность, гарантии</a:t>
                      </a:r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572678"/>
                  </a:ext>
                </a:extLst>
              </a:tr>
              <a:tr h="358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Описание применения</a:t>
                      </a:r>
                      <a:endParaRPr lang="ru-RU" sz="1200"/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Назначение, область применения, ограничения, конфигурация</a:t>
                      </a:r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032951"/>
                  </a:ext>
                </a:extLst>
              </a:tr>
              <a:tr h="358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Руководство системного программиста</a:t>
                      </a:r>
                      <a:endParaRPr lang="ru-RU" sz="1200"/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Инсталляция, настройка, проверка и сопровождение</a:t>
                      </a:r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974766"/>
                  </a:ext>
                </a:extLst>
              </a:tr>
              <a:tr h="358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Руководство программиста</a:t>
                      </a:r>
                      <a:endParaRPr lang="ru-RU" sz="1200"/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Интеграция, входные/выходные данные, сообщения</a:t>
                      </a:r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757582"/>
                  </a:ext>
                </a:extLst>
              </a:tr>
              <a:tr h="358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Руководство оператора</a:t>
                      </a:r>
                      <a:endParaRPr lang="ru-RU" sz="1200"/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Действия конечного пользователя, интерфейс, реакции на события</a:t>
                      </a:r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15960"/>
                  </a:ext>
                </a:extLst>
              </a:tr>
              <a:tr h="358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Описание языка</a:t>
                      </a:r>
                      <a:endParaRPr lang="ru-RU" sz="1200" dirty="0"/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Синтаксис и семантика (при наличии языковых средств)</a:t>
                      </a:r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556649"/>
                  </a:ext>
                </a:extLst>
              </a:tr>
              <a:tr h="229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Руководство по техническому обслуживанию</a:t>
                      </a:r>
                      <a:endParaRPr lang="ru-RU" sz="1200"/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Диагностика, тесты, восстановление</a:t>
                      </a:r>
                    </a:p>
                  </a:txBody>
                  <a:tcPr marL="60520" marR="60520" marT="30260" marB="30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5627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7E01722-3045-58A6-555F-D827C0BB6531}"/>
              </a:ext>
            </a:extLst>
          </p:cNvPr>
          <p:cNvSpPr txBox="1"/>
          <p:nvPr/>
        </p:nvSpPr>
        <p:spPr>
          <a:xfrm>
            <a:off x="1351886" y="1939734"/>
            <a:ext cx="97029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Эксплуатационный документ</a:t>
            </a:r>
            <a:r>
              <a:rPr lang="ru-RU" dirty="0"/>
              <a:t> – содержит сведения для обеспечения функционирования и эксплуатации ПО (инсталляция, настройка, работа, обслуживание).</a:t>
            </a:r>
          </a:p>
          <a:p>
            <a:pPr>
              <a:buNone/>
            </a:pPr>
            <a:r>
              <a:rPr lang="ru-RU" b="1" dirty="0"/>
              <a:t>Состав эксплуатационных документов по ГОСТ 19.101: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8672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09EA9-05E3-68D7-5DE6-97658C2B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Ключевые эксплуатационные документы: суть и различия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A84F4E-8098-1CA3-D0EE-D4429BA31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Ведомость эксплуатационных документов (ГОСТ 19.507-79)</a:t>
            </a:r>
            <a:r>
              <a:rPr lang="ru-RU" dirty="0"/>
              <a:t> – «каталог» всей ЭД, обеспечивает комплектность и контроль версий.</a:t>
            </a:r>
          </a:p>
          <a:p>
            <a:r>
              <a:rPr lang="ru-RU" b="1" dirty="0"/>
              <a:t>Формуляр (ГОСТ 19.501-78)</a:t>
            </a:r>
            <a:r>
              <a:rPr lang="ru-RU" dirty="0"/>
              <a:t> – «паспорт» ПО: основные характеристики, комплектность, учет движения, гарантии и рекламации.</a:t>
            </a:r>
          </a:p>
          <a:p>
            <a:r>
              <a:rPr lang="ru-RU" b="1" dirty="0"/>
              <a:t>Руководство системного программиста (ГОСТ 19.503-79)</a:t>
            </a:r>
            <a:r>
              <a:rPr lang="ru-RU" dirty="0"/>
              <a:t> – для администраторов: установка, конфигурирование, проверка работоспособности (тесты). Ключевые разделы: настройка, диагностические сообщения.</a:t>
            </a:r>
          </a:p>
          <a:p>
            <a:r>
              <a:rPr lang="ru-RU" b="1" dirty="0"/>
              <a:t>Руководство программиста (ГОСТ 19.504-79)</a:t>
            </a:r>
            <a:r>
              <a:rPr lang="ru-RU" dirty="0"/>
              <a:t> – для прикладных разработчиков: условия применения, способы вызова, форматы данных, коды ошибок.</a:t>
            </a:r>
          </a:p>
          <a:p>
            <a:r>
              <a:rPr lang="ru-RU" b="1" dirty="0"/>
              <a:t>Руководство оператора (ГОСТ 19.505-79)</a:t>
            </a:r>
            <a:r>
              <a:rPr lang="ru-RU" dirty="0"/>
              <a:t> – для конечного пользователя: запуск, команды, последовательность действий, сообщения системы и реакция на них.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89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2DC26-8B5D-A7F1-84A6-1C02B5CD1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Оформление: единые требования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137BF4-041F-ED0E-F139-6BF9F6591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Все документы строятся по унифицированным правилам:</a:t>
            </a:r>
          </a:p>
          <a:p>
            <a:r>
              <a:rPr lang="ru-RU" b="1" dirty="0"/>
              <a:t>ГОСТ 19.104-78</a:t>
            </a:r>
            <a:r>
              <a:rPr lang="ru-RU" dirty="0"/>
              <a:t> – титульный лист и лист утверждения.</a:t>
            </a:r>
          </a:p>
          <a:p>
            <a:r>
              <a:rPr lang="ru-RU" b="1" dirty="0"/>
              <a:t>ГОСТ 19.105-78</a:t>
            </a:r>
            <a:r>
              <a:rPr lang="ru-RU" dirty="0"/>
              <a:t> – общая структура документа (аннотация, содержание, основная часть, приложения).</a:t>
            </a:r>
          </a:p>
          <a:p>
            <a:r>
              <a:rPr lang="ru-RU" b="1" dirty="0"/>
              <a:t>ГОСТ 19.106-78</a:t>
            </a:r>
            <a:r>
              <a:rPr lang="ru-RU" dirty="0"/>
              <a:t> – правила для печатного исполнения.</a:t>
            </a:r>
          </a:p>
          <a:p>
            <a:r>
              <a:rPr lang="ru-RU" dirty="0"/>
              <a:t>Каждый вид документа имеет обязательные разделы, регламентированные своим стандартом. Соблюдение структуры и состава разделов – обязательное условие соответствия ЕСПД.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756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089D84-204E-D8AC-E051-68727A3A1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 и источники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708CE9-CBDB-769F-83BD-DC8BB0714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Выводы:</a:t>
            </a:r>
            <a:endParaRPr lang="ru-RU" dirty="0"/>
          </a:p>
          <a:p>
            <a:r>
              <a:rPr lang="ru-RU" dirty="0"/>
              <a:t>ЕСПД – это фундамент прозрачности и управляемости программных проектов.</a:t>
            </a:r>
          </a:p>
          <a:p>
            <a:r>
              <a:rPr lang="ru-RU" dirty="0"/>
              <a:t>Эксплуатационная документация прямо влияет на успех внедрения и стоимость поддержки.</a:t>
            </a:r>
          </a:p>
          <a:p>
            <a:r>
              <a:rPr lang="ru-RU" dirty="0"/>
              <a:t>Четкое разделение ролей (системный программист / программист / оператор) позволяет говорить с каждым специалистом на его языке.</a:t>
            </a:r>
          </a:p>
          <a:p>
            <a:r>
              <a:rPr lang="ru-RU" dirty="0"/>
              <a:t>Соблюдение ГОСТ – показатель технологической зрелости и качества.</a:t>
            </a:r>
          </a:p>
          <a:p>
            <a:r>
              <a:rPr lang="ru-RU" b="1" dirty="0"/>
              <a:t>Основные стандарты:</a:t>
            </a:r>
            <a:br>
              <a:rPr lang="ru-RU" dirty="0"/>
            </a:br>
            <a:r>
              <a:rPr lang="ru-RU" dirty="0"/>
              <a:t>ГОСТ 19.101, 19.501, 19.503, 19.504, 19.505, 19.507.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7532921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{54DA2FB0-6BE5-41EE-A6D0-7AAEC12741C7}TFc986dd65-aaf0-4d5c-bef9-9c391ee05f7b5669cfdc-fe16c7d7e3cd</Template>
  <TotalTime>293</TotalTime>
  <Words>577</Words>
  <Application>Microsoft Office PowerPoint</Application>
  <PresentationFormat>Широкоэкранный</PresentationFormat>
  <Paragraphs>57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Галерея</vt:lpstr>
      <vt:lpstr>Типы и состав технической документации на программный продукт согласно ЕСПД. Эксплуатационная документация</vt:lpstr>
      <vt:lpstr>ЕСПД и ГОСТ 19.101 – основа </vt:lpstr>
      <vt:lpstr>Программные документы (для разработки) – краткий обзор </vt:lpstr>
      <vt:lpstr>Эксплуатационная документация: назначение и полный состав </vt:lpstr>
      <vt:lpstr>Ключевые эксплуатационные документы: суть и различия </vt:lpstr>
      <vt:lpstr>Оформление: единые требования </vt:lpstr>
      <vt:lpstr>Заключение и источники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Шакальный Anonimous</dc:creator>
  <cp:lastModifiedBy>Шакальный Anonimous</cp:lastModifiedBy>
  <cp:revision>1</cp:revision>
  <dcterms:created xsi:type="dcterms:W3CDTF">2026-05-05T17:12:52Z</dcterms:created>
  <dcterms:modified xsi:type="dcterms:W3CDTF">2026-05-05T22:05:55Z</dcterms:modified>
</cp:coreProperties>
</file>